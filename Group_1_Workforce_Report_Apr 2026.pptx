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68" r:id="rId3"/>
    <p:sldId id="283" r:id="rId4"/>
    <p:sldId id="273" r:id="rId5"/>
    <p:sldId id="279" r:id="rId6"/>
  </p:sldIdLst>
  <p:sldSz cx="9144000" cy="5143500" type="screen16x9"/>
  <p:notesSz cx="6858000" cy="9144000"/>
  <p:embeddedFontLst>
    <p:embeddedFont>
      <p:font typeface="Dosis" pitchFamily="2" charset="0"/>
      <p:regular r:id="rId8"/>
      <p:bold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874317-6A03-46BE-8D2F-F448C29AE6E1}">
  <a:tblStyle styleId="{9F874317-6A03-46BE-8D2F-F448C29AE6E1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7" d="100"/>
          <a:sy n="157" d="100"/>
        </p:scale>
        <p:origin x="16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D08C2B95-34AB-5E1C-3637-0E91D690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>
            <a:extLst>
              <a:ext uri="{FF2B5EF4-FFF2-40B4-BE49-F238E27FC236}">
                <a16:creationId xmlns:a16="http://schemas.microsoft.com/office/drawing/2014/main" id="{E3B37C81-79B1-7021-BA57-C640317C7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Shape 204">
            <a:extLst>
              <a:ext uri="{FF2B5EF4-FFF2-40B4-BE49-F238E27FC236}">
                <a16:creationId xmlns:a16="http://schemas.microsoft.com/office/drawing/2014/main" id="{6417329C-6EC8-A426-CC91-E2BEFC9DA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867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Shape 2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-11025" y="-11025"/>
            <a:ext cx="9144000" cy="5143500"/>
          </a:xfrm>
          <a:prstGeom prst="rect">
            <a:avLst/>
          </a:prstGeom>
          <a:solidFill>
            <a:srgbClr val="222222">
              <a:alpha val="64620"/>
            </a:srgb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5086350" y="-38100"/>
            <a:ext cx="4114800" cy="5219700"/>
          </a:xfrm>
          <a:custGeom>
            <a:avLst/>
            <a:gdLst/>
            <a:ahLst/>
            <a:cxnLst/>
            <a:rect l="0" t="0" r="0" b="0"/>
            <a:pathLst>
              <a:path w="164592" h="208788" extrusionOk="0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rgbClr val="FF8700">
              <a:alpha val="85380"/>
            </a:srgbClr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 flipH="1">
            <a:off x="-418950" y="4394400"/>
            <a:ext cx="8172300" cy="749100"/>
          </a:xfrm>
          <a:prstGeom prst="parallelogram">
            <a:avLst>
              <a:gd name="adj" fmla="val 51542"/>
            </a:avLst>
          </a:prstGeom>
          <a:solidFill>
            <a:srgbClr val="FFFFFF">
              <a:alpha val="17690"/>
            </a:srgb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 flipH="1">
            <a:off x="1028474" y="4166400"/>
            <a:ext cx="8369700" cy="228000"/>
          </a:xfrm>
          <a:prstGeom prst="parallelogram">
            <a:avLst>
              <a:gd name="adj" fmla="val 51542"/>
            </a:avLst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1028475" y="0"/>
            <a:ext cx="5238600" cy="4020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5200"/>
            </a:lvl1pPr>
            <a:lvl2pPr lvl="1">
              <a:spcBef>
                <a:spcPts val="0"/>
              </a:spcBef>
              <a:buSzPct val="100000"/>
              <a:defRPr sz="5200"/>
            </a:lvl2pPr>
            <a:lvl3pPr lvl="2">
              <a:spcBef>
                <a:spcPts val="0"/>
              </a:spcBef>
              <a:buSzPct val="100000"/>
              <a:defRPr sz="5200"/>
            </a:lvl3pPr>
            <a:lvl4pPr lvl="3">
              <a:spcBef>
                <a:spcPts val="0"/>
              </a:spcBef>
              <a:buSzPct val="100000"/>
              <a:defRPr sz="5200"/>
            </a:lvl4pPr>
            <a:lvl5pPr lvl="4">
              <a:spcBef>
                <a:spcPts val="0"/>
              </a:spcBef>
              <a:buSzPct val="100000"/>
              <a:defRPr sz="5200"/>
            </a:lvl5pPr>
            <a:lvl6pPr lvl="5">
              <a:spcBef>
                <a:spcPts val="0"/>
              </a:spcBef>
              <a:buSzPct val="100000"/>
              <a:defRPr sz="5200"/>
            </a:lvl6pPr>
            <a:lvl7pPr lvl="6">
              <a:spcBef>
                <a:spcPts val="0"/>
              </a:spcBef>
              <a:buSzPct val="100000"/>
              <a:defRPr sz="5200"/>
            </a:lvl7pPr>
            <a:lvl8pPr lvl="7">
              <a:spcBef>
                <a:spcPts val="0"/>
              </a:spcBef>
              <a:buSzPct val="100000"/>
              <a:defRPr sz="5200"/>
            </a:lvl8pPr>
            <a:lvl9pPr lvl="8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53" name="Shape 53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22222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" name="Shape 54"/>
          <p:cNvSpPr/>
          <p:nvPr/>
        </p:nvSpPr>
        <p:spPr>
          <a:xfrm flipH="1">
            <a:off x="472133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rgbClr val="FF87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" name="Shape 55"/>
          <p:cNvSpPr/>
          <p:nvPr/>
        </p:nvSpPr>
        <p:spPr>
          <a:xfrm flipH="1">
            <a:off x="742953" y="272850"/>
            <a:ext cx="7505700" cy="749100"/>
          </a:xfrm>
          <a:prstGeom prst="parallelogram">
            <a:avLst>
              <a:gd name="adj" fmla="val 51542"/>
            </a:avLst>
          </a:prstGeom>
          <a:solidFill>
            <a:srgbClr val="22222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" name="Shape 56"/>
          <p:cNvSpPr/>
          <p:nvPr/>
        </p:nvSpPr>
        <p:spPr>
          <a:xfrm flipH="1">
            <a:off x="7861618" y="272850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" name="Shape 57"/>
          <p:cNvSpPr/>
          <p:nvPr/>
        </p:nvSpPr>
        <p:spPr>
          <a:xfrm flipH="1">
            <a:off x="990374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1104900" y="1224350"/>
            <a:ext cx="2423100" cy="3549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2000"/>
            </a:lvl2pPr>
            <a:lvl3pPr lvl="2" rtl="0">
              <a:spcBef>
                <a:spcPts val="0"/>
              </a:spcBef>
              <a:buSzPct val="100000"/>
              <a:defRPr sz="2000"/>
            </a:lvl3pPr>
            <a:lvl4pPr lvl="3" rtl="0">
              <a:spcBef>
                <a:spcPts val="0"/>
              </a:spcBef>
              <a:buSzPct val="100000"/>
              <a:defRPr sz="2000"/>
            </a:lvl4pPr>
            <a:lvl5pPr lvl="4" rtl="0">
              <a:spcBef>
                <a:spcPts val="0"/>
              </a:spcBef>
              <a:buSzPct val="100000"/>
              <a:defRPr sz="2000"/>
            </a:lvl5pPr>
            <a:lvl6pPr lvl="5" rtl="0">
              <a:spcBef>
                <a:spcPts val="0"/>
              </a:spcBef>
              <a:buSzPct val="100000"/>
              <a:defRPr sz="2000"/>
            </a:lvl6pPr>
            <a:lvl7pPr lvl="6" rtl="0">
              <a:spcBef>
                <a:spcPts val="0"/>
              </a:spcBef>
              <a:buSzPct val="100000"/>
              <a:defRPr sz="2000"/>
            </a:lvl7pPr>
            <a:lvl8pPr lvl="7" rtl="0">
              <a:spcBef>
                <a:spcPts val="0"/>
              </a:spcBef>
              <a:buSzPct val="100000"/>
              <a:defRPr sz="2000"/>
            </a:lvl8pPr>
            <a:lvl9pPr lvl="8" rtl="0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2"/>
          </p:nvPr>
        </p:nvSpPr>
        <p:spPr>
          <a:xfrm>
            <a:off x="3652188" y="1224350"/>
            <a:ext cx="2423100" cy="3549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2000"/>
            </a:lvl2pPr>
            <a:lvl3pPr lvl="2" rtl="0">
              <a:spcBef>
                <a:spcPts val="0"/>
              </a:spcBef>
              <a:buSzPct val="100000"/>
              <a:defRPr sz="2000"/>
            </a:lvl3pPr>
            <a:lvl4pPr lvl="3" rtl="0">
              <a:spcBef>
                <a:spcPts val="0"/>
              </a:spcBef>
              <a:buSzPct val="100000"/>
              <a:defRPr sz="2000"/>
            </a:lvl4pPr>
            <a:lvl5pPr lvl="4" rtl="0">
              <a:spcBef>
                <a:spcPts val="0"/>
              </a:spcBef>
              <a:buSzPct val="100000"/>
              <a:defRPr sz="2000"/>
            </a:lvl5pPr>
            <a:lvl6pPr lvl="5" rtl="0">
              <a:spcBef>
                <a:spcPts val="0"/>
              </a:spcBef>
              <a:buSzPct val="100000"/>
              <a:defRPr sz="2000"/>
            </a:lvl6pPr>
            <a:lvl7pPr lvl="6" rtl="0">
              <a:spcBef>
                <a:spcPts val="0"/>
              </a:spcBef>
              <a:buSzPct val="100000"/>
              <a:defRPr sz="2000"/>
            </a:lvl7pPr>
            <a:lvl8pPr lvl="7" rtl="0">
              <a:spcBef>
                <a:spcPts val="0"/>
              </a:spcBef>
              <a:buSzPct val="100000"/>
              <a:defRPr sz="2000"/>
            </a:lvl8pPr>
            <a:lvl9pPr lvl="8" rtl="0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3"/>
          </p:nvPr>
        </p:nvSpPr>
        <p:spPr>
          <a:xfrm>
            <a:off x="6199477" y="1224350"/>
            <a:ext cx="2423100" cy="3549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2000"/>
            </a:lvl2pPr>
            <a:lvl3pPr lvl="2" rtl="0">
              <a:spcBef>
                <a:spcPts val="0"/>
              </a:spcBef>
              <a:buSzPct val="100000"/>
              <a:defRPr sz="2000"/>
            </a:lvl3pPr>
            <a:lvl4pPr lvl="3" rtl="0">
              <a:spcBef>
                <a:spcPts val="0"/>
              </a:spcBef>
              <a:buSzPct val="100000"/>
              <a:defRPr sz="2000"/>
            </a:lvl4pPr>
            <a:lvl5pPr lvl="4" rtl="0">
              <a:spcBef>
                <a:spcPts val="0"/>
              </a:spcBef>
              <a:buSzPct val="100000"/>
              <a:defRPr sz="2000"/>
            </a:lvl5pPr>
            <a:lvl6pPr lvl="5" rtl="0">
              <a:spcBef>
                <a:spcPts val="0"/>
              </a:spcBef>
              <a:buSzPct val="100000"/>
              <a:defRPr sz="2000"/>
            </a:lvl6pPr>
            <a:lvl7pPr lvl="6" rtl="0">
              <a:spcBef>
                <a:spcPts val="0"/>
              </a:spcBef>
              <a:buSzPct val="100000"/>
              <a:defRPr sz="2000"/>
            </a:lvl7pPr>
            <a:lvl8pPr lvl="7" rtl="0">
              <a:spcBef>
                <a:spcPts val="0"/>
              </a:spcBef>
              <a:buSzPct val="100000"/>
              <a:defRPr sz="2000"/>
            </a:lvl8pPr>
            <a:lvl9pPr lvl="8" rtl="0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65" name="Shape 65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22222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" name="Shape 66"/>
          <p:cNvSpPr/>
          <p:nvPr/>
        </p:nvSpPr>
        <p:spPr>
          <a:xfrm flipH="1">
            <a:off x="472133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rgbClr val="FF87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" name="Shape 67"/>
          <p:cNvSpPr/>
          <p:nvPr/>
        </p:nvSpPr>
        <p:spPr>
          <a:xfrm flipH="1">
            <a:off x="742953" y="272850"/>
            <a:ext cx="7505700" cy="749100"/>
          </a:xfrm>
          <a:prstGeom prst="parallelogram">
            <a:avLst>
              <a:gd name="adj" fmla="val 51542"/>
            </a:avLst>
          </a:prstGeom>
          <a:solidFill>
            <a:srgbClr val="22222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" name="Shape 68"/>
          <p:cNvSpPr/>
          <p:nvPr/>
        </p:nvSpPr>
        <p:spPr>
          <a:xfrm flipH="1">
            <a:off x="7861618" y="272850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/>
          <p:nvPr/>
        </p:nvSpPr>
        <p:spPr>
          <a:xfrm flipH="1">
            <a:off x="990374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inverted">
    <p:bg>
      <p:bgPr>
        <a:solidFill>
          <a:srgbClr val="22222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97" name="Shape 97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flipH="1">
            <a:off x="472133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9" name="Shape 99"/>
          <p:cNvSpPr/>
          <p:nvPr/>
        </p:nvSpPr>
        <p:spPr>
          <a:xfrm flipH="1">
            <a:off x="990374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04900" y="1200150"/>
            <a:ext cx="7581900" cy="3725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FF8700"/>
              </a:buClr>
              <a:buSzPct val="100000"/>
              <a:buFont typeface="Roboto"/>
              <a:buChar char="▸"/>
              <a:defRPr sz="30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480"/>
              </a:spcBef>
              <a:buClr>
                <a:srgbClr val="FF8700"/>
              </a:buClr>
              <a:buSzPct val="100000"/>
              <a:buFont typeface="Roboto"/>
              <a:buChar char="▹"/>
              <a:defRPr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480"/>
              </a:spcBef>
              <a:buClr>
                <a:srgbClr val="FF8700"/>
              </a:buClr>
              <a:buSzPct val="100000"/>
              <a:buFont typeface="Roboto"/>
              <a:buChar char="▹"/>
              <a:defRPr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fld id="{00000000-1234-1234-1234-123412341234}" type="slidenum">
              <a:rPr lang="en"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" sz="13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ctrTitle"/>
          </p:nvPr>
        </p:nvSpPr>
        <p:spPr>
          <a:xfrm>
            <a:off x="792000" y="1260000"/>
            <a:ext cx="1980000" cy="554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000" dirty="0">
                <a:latin typeface="+mj-lt"/>
              </a:rPr>
              <a:t>Group_1</a:t>
            </a:r>
          </a:p>
        </p:txBody>
      </p:sp>
      <p:sp>
        <p:nvSpPr>
          <p:cNvPr id="2" name="Shape 105">
            <a:extLst>
              <a:ext uri="{FF2B5EF4-FFF2-40B4-BE49-F238E27FC236}">
                <a16:creationId xmlns:a16="http://schemas.microsoft.com/office/drawing/2014/main" id="{F2921C2D-FE4E-E8A4-1D0B-2DD8179A0C84}"/>
              </a:ext>
            </a:extLst>
          </p:cNvPr>
          <p:cNvSpPr txBox="1">
            <a:spLocks/>
          </p:cNvSpPr>
          <p:nvPr/>
        </p:nvSpPr>
        <p:spPr>
          <a:xfrm>
            <a:off x="828000" y="1908000"/>
            <a:ext cx="5040000" cy="431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Dosis"/>
              <a:buNone/>
              <a:defRPr sz="52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r>
              <a:rPr lang="en-CA" sz="2000" dirty="0">
                <a:latin typeface="+mj-lt"/>
              </a:rPr>
              <a:t>Monthly Workforce Report – April 2026</a:t>
            </a:r>
          </a:p>
        </p:txBody>
      </p:sp>
      <p:sp>
        <p:nvSpPr>
          <p:cNvPr id="3" name="Shape 105">
            <a:extLst>
              <a:ext uri="{FF2B5EF4-FFF2-40B4-BE49-F238E27FC236}">
                <a16:creationId xmlns:a16="http://schemas.microsoft.com/office/drawing/2014/main" id="{ECD3FD7D-9F02-7C5F-944D-4FB58DF461AA}"/>
              </a:ext>
            </a:extLst>
          </p:cNvPr>
          <p:cNvSpPr txBox="1">
            <a:spLocks/>
          </p:cNvSpPr>
          <p:nvPr/>
        </p:nvSpPr>
        <p:spPr>
          <a:xfrm>
            <a:off x="5940000" y="4518000"/>
            <a:ext cx="1656000" cy="43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Dosis"/>
              <a:buNone/>
              <a:defRPr sz="52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r>
              <a:rPr lang="en-CA" sz="1600" dirty="0">
                <a:latin typeface="+mj-lt"/>
              </a:rPr>
              <a:t>Apr 24th,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0F0C4-AE06-A7D6-821C-27FDAB6FBA9D}"/>
              </a:ext>
            </a:extLst>
          </p:cNvPr>
          <p:cNvSpPr txBox="1"/>
          <p:nvPr/>
        </p:nvSpPr>
        <p:spPr>
          <a:xfrm>
            <a:off x="3093396" y="4974223"/>
            <a:ext cx="295720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solidFill>
                  <a:schemeClr val="bg1">
                    <a:lumMod val="95000"/>
                  </a:schemeClr>
                </a:solidFill>
              </a:rPr>
              <a:t>By: Shounak (Sean) Roychaudhuri</a:t>
            </a:r>
            <a:endParaRPr lang="en-CA" sz="5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4206240" cy="7491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>
                <a:latin typeface="+mj-lt"/>
              </a:rPr>
              <a:t>Group_1</a:t>
            </a:r>
            <a:r>
              <a:rPr lang="en-CA" dirty="0">
                <a:latin typeface="+mj-lt"/>
              </a:rPr>
              <a:t> - Staffing Levels</a:t>
            </a:r>
            <a:endParaRPr lang="en" dirty="0">
              <a:latin typeface="+mj-lt"/>
            </a:endParaRPr>
          </a:p>
        </p:txBody>
      </p:sp>
      <p:sp>
        <p:nvSpPr>
          <p:cNvPr id="208" name="Shape 208"/>
          <p:cNvSpPr txBox="1">
            <a:spLocks noGrp="1"/>
          </p:cNvSpPr>
          <p:nvPr>
            <p:ph type="sldNum" idx="12"/>
          </p:nvPr>
        </p:nvSpPr>
        <p:spPr>
          <a:xfrm>
            <a:off x="8793048" y="4552430"/>
            <a:ext cx="248054" cy="27967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fld id="{00000000-1234-1234-1234-123412341234}" type="slidenum">
              <a:rPr lang="en"/>
              <a:pPr lvl="0" algn="ctr">
                <a:spcBef>
                  <a:spcPts val="0"/>
                </a:spcBef>
                <a:buNone/>
              </a:pPr>
              <a:t>2</a:t>
            </a:fld>
            <a:endParaRPr lang="en" dirty="0"/>
          </a:p>
        </p:txBody>
      </p:sp>
      <p:sp>
        <p:nvSpPr>
          <p:cNvPr id="4" name="Shape 300">
            <a:extLst>
              <a:ext uri="{FF2B5EF4-FFF2-40B4-BE49-F238E27FC236}">
                <a16:creationId xmlns:a16="http://schemas.microsoft.com/office/drawing/2014/main" id="{6B46AF77-7E1A-BA91-CF46-3995A9AF50C2}"/>
              </a:ext>
            </a:extLst>
          </p:cNvPr>
          <p:cNvSpPr txBox="1">
            <a:spLocks/>
          </p:cNvSpPr>
          <p:nvPr/>
        </p:nvSpPr>
        <p:spPr>
          <a:xfrm>
            <a:off x="6556252" y="1134387"/>
            <a:ext cx="2358445" cy="34180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▸"/>
              <a:defRPr sz="30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▹"/>
              <a:defRPr sz="24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▹"/>
              <a:defRPr sz="24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▹"/>
              <a:defRPr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▹"/>
              <a:defRPr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▹"/>
              <a:defRPr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▹"/>
              <a:defRPr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▹"/>
              <a:defRPr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8700"/>
              </a:buClr>
              <a:buSzPct val="100000"/>
              <a:buFont typeface="Roboto"/>
              <a:buChar char="▹"/>
              <a:defRPr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algn="ctr">
              <a:spcBef>
                <a:spcPts val="0"/>
              </a:spcBef>
              <a:buFont typeface="Roboto"/>
              <a:buNone/>
            </a:pPr>
            <a:r>
              <a:rPr lang="en" sz="2500" dirty="0">
                <a:solidFill>
                  <a:srgbClr val="FF8700"/>
                </a:solidFill>
                <a:latin typeface="Dosis"/>
                <a:ea typeface="Dosis"/>
                <a:cs typeface="Dosis"/>
                <a:sym typeface="Dosis"/>
              </a:rPr>
              <a:t>Highlights</a:t>
            </a:r>
          </a:p>
          <a:p>
            <a:pPr algn="ctr">
              <a:spcBef>
                <a:spcPts val="0"/>
              </a:spcBef>
              <a:buFont typeface="Roboto"/>
              <a:buNone/>
            </a:pPr>
            <a:endParaRPr lang="en" sz="1200" dirty="0">
              <a:solidFill>
                <a:srgbClr val="FF8700"/>
              </a:solidFill>
              <a:latin typeface="Dosis"/>
              <a:ea typeface="Dosis"/>
              <a:cs typeface="Dosis"/>
              <a:sym typeface="Dosis"/>
            </a:endParaRPr>
          </a:p>
          <a:p>
            <a:pPr marL="285750" indent="-285750">
              <a:spcBef>
                <a:spcPts val="0"/>
              </a:spcBef>
            </a:pPr>
            <a:r>
              <a:rPr lang="en" sz="1200" b="1" dirty="0"/>
              <a:t>Volume YoY YTD</a:t>
            </a:r>
            <a:r>
              <a:rPr lang="en" sz="1200" dirty="0"/>
              <a:t> is +8% and Volume YoY Jun-Dec is forecasted to be +10%.</a:t>
            </a:r>
          </a:p>
          <a:p>
            <a:pPr marL="285750" indent="-285750">
              <a:spcBef>
                <a:spcPts val="0"/>
              </a:spcBef>
            </a:pPr>
            <a:endParaRPr lang="en" sz="1200" dirty="0"/>
          </a:p>
          <a:p>
            <a:pPr marL="285750" indent="-285750">
              <a:spcBef>
                <a:spcPts val="0"/>
              </a:spcBef>
            </a:pPr>
            <a:r>
              <a:rPr lang="en" sz="1200" b="1" dirty="0"/>
              <a:t>Average APT YoY YTD</a:t>
            </a:r>
            <a:r>
              <a:rPr lang="en" sz="1200" dirty="0"/>
              <a:t> is +2% and APT YoY Jun-Dec is forecasted to be -5%.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F0AE5E-75DA-857C-71E7-3083C52413F3}"/>
              </a:ext>
            </a:extLst>
          </p:cNvPr>
          <p:cNvSpPr/>
          <p:nvPr/>
        </p:nvSpPr>
        <p:spPr>
          <a:xfrm>
            <a:off x="709636" y="1134387"/>
            <a:ext cx="5846618" cy="247170"/>
          </a:xfrm>
          <a:prstGeom prst="round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Shape 105">
            <a:extLst>
              <a:ext uri="{FF2B5EF4-FFF2-40B4-BE49-F238E27FC236}">
                <a16:creationId xmlns:a16="http://schemas.microsoft.com/office/drawing/2014/main" id="{E259087A-A6FF-5636-8E40-668C1BA5347D}"/>
              </a:ext>
            </a:extLst>
          </p:cNvPr>
          <p:cNvSpPr txBox="1">
            <a:spLocks/>
          </p:cNvSpPr>
          <p:nvPr/>
        </p:nvSpPr>
        <p:spPr>
          <a:xfrm>
            <a:off x="1598890" y="1085240"/>
            <a:ext cx="4068108" cy="3454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Dosis"/>
              <a:buNone/>
              <a:defRPr sz="52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5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algn="ctr"/>
            <a:r>
              <a:rPr lang="en-CA" sz="1200" dirty="0">
                <a:latin typeface="+mj-lt"/>
              </a:rPr>
              <a:t>FY 2026 </a:t>
            </a:r>
            <a:r>
              <a:rPr lang="en-CA" sz="1200" dirty="0" err="1">
                <a:latin typeface="+mj-lt"/>
              </a:rPr>
              <a:t>Historicals</a:t>
            </a:r>
            <a:r>
              <a:rPr lang="en-CA" sz="1200" dirty="0">
                <a:latin typeface="+mj-lt"/>
              </a:rPr>
              <a:t> (Jan – May) + Forecast (Jun – Dec)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B972B8-057A-8ECB-5A74-9BCA8E64A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517904"/>
            <a:ext cx="5285232" cy="24456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F23E19-59F9-1E84-DBE7-703C4D19D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00" y="4099872"/>
            <a:ext cx="5575069" cy="731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B91931-A2B5-C942-AAAD-B4CAF8D4B398}"/>
              </a:ext>
            </a:extLst>
          </p:cNvPr>
          <p:cNvSpPr txBox="1"/>
          <p:nvPr/>
        </p:nvSpPr>
        <p:spPr>
          <a:xfrm>
            <a:off x="3093396" y="4974223"/>
            <a:ext cx="295720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solidFill>
                  <a:schemeClr val="bg1">
                    <a:lumMod val="95000"/>
                  </a:schemeClr>
                </a:solidFill>
              </a:rPr>
              <a:t>By: Shounak (Sean) Roychaudhuri</a:t>
            </a:r>
            <a:endParaRPr lang="en-CA" sz="5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19CEBF7D-2ECA-CE49-75D7-5C690859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08">
            <a:extLst>
              <a:ext uri="{FF2B5EF4-FFF2-40B4-BE49-F238E27FC236}">
                <a16:creationId xmlns:a16="http://schemas.microsoft.com/office/drawing/2014/main" id="{6AF08DEB-9826-EC53-6FDA-191C42C39A10}"/>
              </a:ext>
            </a:extLst>
          </p:cNvPr>
          <p:cNvSpPr txBox="1">
            <a:spLocks/>
          </p:cNvSpPr>
          <p:nvPr/>
        </p:nvSpPr>
        <p:spPr>
          <a:xfrm>
            <a:off x="8793048" y="4552430"/>
            <a:ext cx="248054" cy="2796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fld id="{00000000-1234-1234-1234-123412341234}" type="slidenum">
              <a:rPr lang="en" smtClean="0"/>
              <a:pPr algn="ctr"/>
              <a:t>3</a:t>
            </a:fld>
            <a:endParaRPr lang="en" dirty="0"/>
          </a:p>
        </p:txBody>
      </p:sp>
      <p:sp>
        <p:nvSpPr>
          <p:cNvPr id="9" name="Shape 206">
            <a:extLst>
              <a:ext uri="{FF2B5EF4-FFF2-40B4-BE49-F238E27FC236}">
                <a16:creationId xmlns:a16="http://schemas.microsoft.com/office/drawing/2014/main" id="{ECE984A7-CDE6-54A5-5AF3-9C625D168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4206240" cy="7491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>
                <a:latin typeface="+mj-lt"/>
              </a:rPr>
              <a:t>Group_1</a:t>
            </a:r>
            <a:r>
              <a:rPr lang="en-CA" dirty="0">
                <a:latin typeface="+mj-lt"/>
              </a:rPr>
              <a:t> - Capacity Details</a:t>
            </a:r>
            <a:endParaRPr lang="en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C60082-F351-A302-E705-34AC8D07A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371600"/>
            <a:ext cx="8381706" cy="320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1AB4D7-0E03-E4D7-E2C7-F9C4B6EE5A24}"/>
              </a:ext>
            </a:extLst>
          </p:cNvPr>
          <p:cNvSpPr txBox="1"/>
          <p:nvPr/>
        </p:nvSpPr>
        <p:spPr>
          <a:xfrm>
            <a:off x="3093396" y="4974223"/>
            <a:ext cx="295720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solidFill>
                  <a:schemeClr val="bg1">
                    <a:lumMod val="95000"/>
                  </a:schemeClr>
                </a:solidFill>
              </a:rPr>
              <a:t>By: Shounak (Sean) Roychaudhuri</a:t>
            </a:r>
            <a:endParaRPr lang="en-CA" sz="5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33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8">
            <a:extLst>
              <a:ext uri="{FF2B5EF4-FFF2-40B4-BE49-F238E27FC236}">
                <a16:creationId xmlns:a16="http://schemas.microsoft.com/office/drawing/2014/main" id="{BA8BE270-D7D9-90F1-EA8F-DBDD270810A9}"/>
              </a:ext>
            </a:extLst>
          </p:cNvPr>
          <p:cNvSpPr txBox="1">
            <a:spLocks/>
          </p:cNvSpPr>
          <p:nvPr/>
        </p:nvSpPr>
        <p:spPr>
          <a:xfrm>
            <a:off x="8793048" y="4552430"/>
            <a:ext cx="248054" cy="2796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fld id="{00000000-1234-1234-1234-123412341234}" type="slidenum">
              <a:rPr lang="en" smtClean="0"/>
              <a:pPr algn="ctr"/>
              <a:t>4</a:t>
            </a:fld>
            <a:endParaRPr lang="en" dirty="0"/>
          </a:p>
        </p:txBody>
      </p:sp>
      <p:sp>
        <p:nvSpPr>
          <p:cNvPr id="4" name="Shape 206">
            <a:extLst>
              <a:ext uri="{FF2B5EF4-FFF2-40B4-BE49-F238E27FC236}">
                <a16:creationId xmlns:a16="http://schemas.microsoft.com/office/drawing/2014/main" id="{25035F7B-9AC4-7B71-5E87-D2A48FFB2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4206240" cy="7491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>
                <a:latin typeface="+mj-lt"/>
              </a:rPr>
              <a:t>Group_1</a:t>
            </a:r>
            <a:r>
              <a:rPr lang="en-CA" dirty="0">
                <a:latin typeface="+mj-lt"/>
              </a:rPr>
              <a:t> - Shrink Details</a:t>
            </a:r>
            <a:endParaRPr lang="en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26B54F-D236-067E-A98B-7E8E04A9D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252728"/>
            <a:ext cx="8655139" cy="832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AD255A-1DD4-141E-37C3-332D16783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313432"/>
            <a:ext cx="4141124" cy="2240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DA9C56-6798-217A-0204-142FF50BE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313432"/>
            <a:ext cx="4141124" cy="2240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4EAB4D-A822-7EAE-5E0D-63C6CEBF03BD}"/>
              </a:ext>
            </a:extLst>
          </p:cNvPr>
          <p:cNvSpPr txBox="1"/>
          <p:nvPr/>
        </p:nvSpPr>
        <p:spPr>
          <a:xfrm>
            <a:off x="3093396" y="4974223"/>
            <a:ext cx="295720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solidFill>
                  <a:schemeClr val="bg1">
                    <a:lumMod val="95000"/>
                  </a:schemeClr>
                </a:solidFill>
              </a:rPr>
              <a:t>By: Shounak (Sean) Roychaudhuri</a:t>
            </a:r>
            <a:endParaRPr lang="en-CA" sz="5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ctrTitle" idx="4294967295"/>
          </p:nvPr>
        </p:nvSpPr>
        <p:spPr>
          <a:xfrm>
            <a:off x="1033300" y="1583350"/>
            <a:ext cx="3200400" cy="1159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6000" dirty="0">
                <a:solidFill>
                  <a:srgbClr val="FF8700"/>
                </a:solidFill>
              </a:rPr>
              <a:t>THANKS!</a:t>
            </a:r>
          </a:p>
        </p:txBody>
      </p:sp>
      <p:sp>
        <p:nvSpPr>
          <p:cNvPr id="307" name="Shape 307"/>
          <p:cNvSpPr txBox="1">
            <a:spLocks noGrp="1"/>
          </p:cNvSpPr>
          <p:nvPr>
            <p:ph type="subTitle" idx="4294967295"/>
          </p:nvPr>
        </p:nvSpPr>
        <p:spPr>
          <a:xfrm>
            <a:off x="1345027" y="2633472"/>
            <a:ext cx="2743200" cy="58368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FFFF"/>
                </a:solidFill>
              </a:rPr>
              <a:t>Any questions?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40DCCA-3D1A-2418-E6DC-9C95A8326826}"/>
              </a:ext>
            </a:extLst>
          </p:cNvPr>
          <p:cNvSpPr txBox="1"/>
          <p:nvPr/>
        </p:nvSpPr>
        <p:spPr>
          <a:xfrm>
            <a:off x="3093396" y="4974223"/>
            <a:ext cx="295720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solidFill>
                  <a:schemeClr val="bg1">
                    <a:lumMod val="95000"/>
                  </a:schemeClr>
                </a:solidFill>
              </a:rPr>
              <a:t>By: Shounak (Sean) Roychaudhuri</a:t>
            </a:r>
            <a:endParaRPr lang="en-CA" sz="5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lliam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127</Words>
  <Application>Microsoft Office PowerPoint</Application>
  <PresentationFormat>On-screen Show (16:9)</PresentationFormat>
  <Paragraphs>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Dosis</vt:lpstr>
      <vt:lpstr>Roboto</vt:lpstr>
      <vt:lpstr>William template</vt:lpstr>
      <vt:lpstr>Group_1</vt:lpstr>
      <vt:lpstr>Group_1 - Staffing Levels</vt:lpstr>
      <vt:lpstr>Group_1 - Capacity Details</vt:lpstr>
      <vt:lpstr>Group_1 - Shrink Details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Kurow</dc:creator>
  <cp:lastModifiedBy>Shounak Roychaudhuri</cp:lastModifiedBy>
  <cp:revision>35</cp:revision>
  <dcterms:modified xsi:type="dcterms:W3CDTF">2026-04-24T18:25:58Z</dcterms:modified>
</cp:coreProperties>
</file>